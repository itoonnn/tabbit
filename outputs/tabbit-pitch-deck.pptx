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6432075721b4be3" /><Relationship Type="http://schemas.openxmlformats.org/officeDocument/2006/relationships/extended-properties" Target="/docProps/app.xml" Id="Rf4c0b330036344c0" /><Relationship Type="http://schemas.openxmlformats.org/officeDocument/2006/relationships/officeDocument" Target="/ppt/presentation.xml" Id="R63942abcb8ad4e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fcdb37a25d041f0"/>
  </p:sldMasterIdLst>
  <p:notesMasterIdLst>
    <p:notesMasterId xmlns:r="http://schemas.openxmlformats.org/officeDocument/2006/relationships" r:id="R297159dfa430466b"/>
  </p:notesMasterIdLst>
  <p:sldIdLst>
    <p:sldId xmlns:r="http://schemas.openxmlformats.org/officeDocument/2006/relationships" id="256" r:id="R4dd4ee50cc884bd0"/>
    <p:sldId xmlns:r="http://schemas.openxmlformats.org/officeDocument/2006/relationships" id="257" r:id="R8519fdf50cd44b6b"/>
    <p:sldId xmlns:r="http://schemas.openxmlformats.org/officeDocument/2006/relationships" id="258" r:id="R67b4f6c285ee4bde"/>
    <p:sldId xmlns:r="http://schemas.openxmlformats.org/officeDocument/2006/relationships" id="259" r:id="Rddc73311f4a54b80"/>
    <p:sldId xmlns:r="http://schemas.openxmlformats.org/officeDocument/2006/relationships" id="260" r:id="R46ac04eb7eb84cbd"/>
    <p:sldId xmlns:r="http://schemas.openxmlformats.org/officeDocument/2006/relationships" id="261" r:id="R4afa867a62f14da3"/>
    <p:sldId xmlns:r="http://schemas.openxmlformats.org/officeDocument/2006/relationships" id="262" r:id="R224ef8f92cae4239"/>
    <p:sldId xmlns:r="http://schemas.openxmlformats.org/officeDocument/2006/relationships" id="263" r:id="R31e0912d83fb478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4c8941f0d6945ad" /><Relationship Type="http://schemas.openxmlformats.org/officeDocument/2006/relationships/slideMaster" Target="/ppt/slideMasters/slideMaster1.xml" Id="R6fcdb37a25d041f0" /><Relationship Type="http://schemas.openxmlformats.org/officeDocument/2006/relationships/notesMaster" Target="/ppt/notesMasters/notesMaster1.xml" Id="R297159dfa430466b" /><Relationship Type="http://schemas.openxmlformats.org/officeDocument/2006/relationships/presProps" Target="/ppt/presProps.xml" Id="Raa304e09d0c7470d" /><Relationship Type="http://schemas.openxmlformats.org/officeDocument/2006/relationships/tableStyles" Target="/ppt/tableStyles.xml" Id="Rb6e60b63c7e042fd" /><Relationship Type="http://schemas.openxmlformats.org/officeDocument/2006/relationships/slide" Target="/ppt/slides/slide1.xml" Id="R4dd4ee50cc884bd0" /><Relationship Type="http://schemas.openxmlformats.org/officeDocument/2006/relationships/slide" Target="/ppt/slides/slide2.xml" Id="R8519fdf50cd44b6b" /><Relationship Type="http://schemas.openxmlformats.org/officeDocument/2006/relationships/slide" Target="/ppt/slides/slide3.xml" Id="R67b4f6c285ee4bde" /><Relationship Type="http://schemas.openxmlformats.org/officeDocument/2006/relationships/slide" Target="/ppt/slides/slide4.xml" Id="Rddc73311f4a54b80" /><Relationship Type="http://schemas.openxmlformats.org/officeDocument/2006/relationships/slide" Target="/ppt/slides/slide5.xml" Id="R46ac04eb7eb84cbd" /><Relationship Type="http://schemas.openxmlformats.org/officeDocument/2006/relationships/slide" Target="/ppt/slides/slide6.xml" Id="R4afa867a62f14da3" /><Relationship Type="http://schemas.openxmlformats.org/officeDocument/2006/relationships/slide" Target="/ppt/slides/slide7.xml" Id="R224ef8f92cae4239" /><Relationship Type="http://schemas.openxmlformats.org/officeDocument/2006/relationships/slide" Target="/ppt/slides/slide8.xml" Id="R31e0912d83fb47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329bfcc81d34d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967cddc3d74831" /><Relationship Type="http://schemas.openxmlformats.org/officeDocument/2006/relationships/notesMaster" Target="/ppt/notesMasters/notesMaster1.xml" Id="R175a4c41bd7046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2a86c653697438a" /><Relationship Type="http://schemas.openxmlformats.org/officeDocument/2006/relationships/notesMaster" Target="/ppt/notesMasters/notesMaster1.xml" Id="Rc01ff5f2a7234ef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ecdac0cfcfd4d4a" /><Relationship Type="http://schemas.openxmlformats.org/officeDocument/2006/relationships/notesMaster" Target="/ppt/notesMasters/notesMaster1.xml" Id="Rf35a356da9bc4d1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6eaa895da8a456f" /><Relationship Type="http://schemas.openxmlformats.org/officeDocument/2006/relationships/notesMaster" Target="/ppt/notesMasters/notesMaster1.xml" Id="Rdae256564ab4402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c9beaac8dc04628" /><Relationship Type="http://schemas.openxmlformats.org/officeDocument/2006/relationships/notesMaster" Target="/ppt/notesMasters/notesMaster1.xml" Id="Rece50d845ed14d1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184f1e7bc494db9" /><Relationship Type="http://schemas.openxmlformats.org/officeDocument/2006/relationships/notesMaster" Target="/ppt/notesMasters/notesMaster1.xml" Id="R06a1c5954900453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dcc10ff47bd4616" /><Relationship Type="http://schemas.openxmlformats.org/officeDocument/2006/relationships/notesMaster" Target="/ppt/notesMasters/notesMaster1.xml" Id="Rf2f9bd78b8a2451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9d2f11987ee4f90" /><Relationship Type="http://schemas.openxmlformats.org/officeDocument/2006/relationships/notesMaster" Target="/ppt/notesMasters/notesMaster1.xml" Id="R4e874c1ff4a84af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cec0c64d19408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ec8ae8213fa47bd" /><Relationship Type="http://schemas.openxmlformats.org/officeDocument/2006/relationships/slideLayout" Target="/ppt/slideLayouts/slideLayout1.xml" Id="R06d0cb9d99e64d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d0cb9d99e64d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ab51d575254153" /><Relationship Type="http://schemas.openxmlformats.org/officeDocument/2006/relationships/image" Target="/ppt/media/image.jpeg" Id="R74ac951603594386" /><Relationship Type="http://schemas.openxmlformats.org/officeDocument/2006/relationships/notesSlide" Target="/ppt/notesSlides/notesSlide1.xml" Id="Rf1b9e248763a482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0119b92a644144" /><Relationship Type="http://schemas.openxmlformats.org/officeDocument/2006/relationships/image" Target="/ppt/media/image2.jpeg" Id="R55acc82e6dd548d1" /><Relationship Type="http://schemas.openxmlformats.org/officeDocument/2006/relationships/notesSlide" Target="/ppt/notesSlides/notesSlide2.xml" Id="R00e3e81aa5364a0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17669770264549" /><Relationship Type="http://schemas.openxmlformats.org/officeDocument/2006/relationships/image" Target="/ppt/media/image3.jpeg" Id="Rc0aa6fe9c1d9448d" /><Relationship Type="http://schemas.openxmlformats.org/officeDocument/2006/relationships/notesSlide" Target="/ppt/notesSlides/notesSlide3.xml" Id="R464ee32bbc7240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cc5f2a22864fe5" /><Relationship Type="http://schemas.openxmlformats.org/officeDocument/2006/relationships/image" Target="/ppt/media/image4.jpeg" Id="R5ec086dd9a0f44a7" /><Relationship Type="http://schemas.openxmlformats.org/officeDocument/2006/relationships/notesSlide" Target="/ppt/notesSlides/notesSlide4.xml" Id="R91bd4663903043f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dcb15388e74378" /><Relationship Type="http://schemas.openxmlformats.org/officeDocument/2006/relationships/image" Target="/ppt/media/image5.jpeg" Id="R17aa2a9954d94195" /><Relationship Type="http://schemas.openxmlformats.org/officeDocument/2006/relationships/notesSlide" Target="/ppt/notesSlides/notesSlide5.xml" Id="Re29f2e4171f1447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fffc2f005b40ba" /><Relationship Type="http://schemas.openxmlformats.org/officeDocument/2006/relationships/image" Target="/ppt/media/image6.jpeg" Id="R1cb89ade34554ff3" /><Relationship Type="http://schemas.openxmlformats.org/officeDocument/2006/relationships/notesSlide" Target="/ppt/notesSlides/notesSlide6.xml" Id="R65a60fc3d0024d5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2be53fc8594559" /><Relationship Type="http://schemas.openxmlformats.org/officeDocument/2006/relationships/image" Target="/ppt/media/image7.jpeg" Id="Ra232d5b0e75b42e0" /><Relationship Type="http://schemas.openxmlformats.org/officeDocument/2006/relationships/notesSlide" Target="/ppt/notesSlides/notesSlide7.xml" Id="R66a674cf6e0c47f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7cdbc684d44e32" /><Relationship Type="http://schemas.openxmlformats.org/officeDocument/2006/relationships/image" Target="/ppt/media/image8.jpeg" Id="Re5091fbdfa3544c4" /><Relationship Type="http://schemas.openxmlformats.org/officeDocument/2006/relationships/notesSlide" Target="/ppt/notesSlides/notesSlide8.xml" Id="R3968658301d846f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8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2D4545-4C37-400A-9C57-68787AD51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FFF8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29B002-F2F3-40C1-A7A4-9EFA4B31E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oundRect">
            <a:avLst>
              <a:gd name="adj" fmla="val 1538"/>
            </a:avLst>
          </a:prstGeom>
          <a:solidFill xmlns:a="http://schemas.openxmlformats.org/drawingml/2006/main">
            <a:srgbClr val="EDF7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E3CEEE-1DCA-4A87-AFCA-5F6D2103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238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7D5A"/>
          </a:solidFill>
          <a:ln xmlns:a="http://schemas.openxmlformats.org/drawingml/2006/main" w="0">
            <a:solidFill>
              <a:srgbClr val="ED7D5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E6B7BE-8A9C-4365-ACF3-049A72E33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533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245445"/>
                </a:solidFill>
                <a:latin typeface="Aptos Display"/>
                <a:ea typeface="Aptos Display"/>
                <a:cs typeface="Aptos Display"/>
              </a:defRPr>
            </a:pPr>
            <a:r>
              <a:rPr sz="4800" b="1">
                <a:solidFill>
                  <a:srgbClr val="245445"/>
                </a:solidFill>
                <a:latin typeface="Aptos Display"/>
                <a:ea typeface="Aptos Display"/>
                <a:cs typeface="Aptos Display"/>
              </a:rPr>
              <a:t>Tabbit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77F448-07CE-4124-8EA3-28C026C8A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95550"/>
            <a:ext cx="5810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8231F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8231F"/>
                </a:solidFill>
                <a:latin typeface="Aptos"/>
                <a:ea typeface="Aptos"/>
                <a:cs typeface="Aptos"/>
              </a:rPr>
              <a:t>Group habit tracker ที่ช่วยให้คนกลับมาทำต่อ เพราะมีเพื่อนเห็น progress และให้กำลังใจกัน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76284A-1217-4A4E-8BC4-F10A68E4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31432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2454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84A957-67EC-49CA-B076-31847661C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2800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Free to start · Pay when groups scale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ac951603594386"/>
          <a:stretch xmlns:a="http://schemas.openxmlformats.org/drawingml/2006/main"/>
        </p:blipFill>
        <p:spPr>
          <a:xfrm xmlns:a="http://schemas.openxmlformats.org/drawingml/2006/main">
            <a:off x="7658100" y="1543050"/>
            <a:ext cx="3143250" cy="3143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59D19F-225C-4867-B750-CA105FD82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102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0706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0706A"/>
                </a:solidFill>
                <a:latin typeface="Aptos"/>
                <a:ea typeface="Aptos"/>
                <a:cs typeface="Aptos"/>
              </a:rPr>
              <a:t>Pitch Deck</a:t>
            </a:r>
          </a:p>
        </p:txBody>
      </p:sp>
    </p:spTree>
    <p:extLst>
      <p:ext uri="{BB962C8B-B14F-4D97-AF65-F5344CB8AC3E}">
        <p14:creationId xmlns:p14="http://schemas.microsoft.com/office/powerpoint/2010/main" val="1183583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acc82e6dd548d1"/>
          <a:stretch xmlns:a="http://schemas.openxmlformats.org/drawingml/2006/main"/>
        </p:blipFill>
        <p:spPr>
          <a:xfrm xmlns:a="http://schemas.openxmlformats.org/drawingml/2006/main">
            <a:off x="10382250" y="4000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0BC75D-B5F0-456A-81A3-083FCF173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5445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45445"/>
                </a:solidFill>
                <a:latin typeface="Aptos Display"/>
                <a:ea typeface="Aptos Display"/>
                <a:cs typeface="Aptos Display"/>
              </a:rPr>
              <a:t>ที่มา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2D6A91-388F-4D9B-B084-CE57157A6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952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7D5A"/>
          </a:solidFill>
          <a:ln xmlns:a="http://schemas.openxmlformats.org/drawingml/2006/main" w="0">
            <a:solidFill>
              <a:srgbClr val="ED7D5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DE84DB-D8C3-4433-B713-542EEE765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723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31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8231F"/>
                </a:solidFill>
                <a:latin typeface="Aptos"/>
                <a:ea typeface="Aptos"/>
                <a:cs typeface="Aptos"/>
              </a:rPr>
              <a:t>หลายคนไม่ได้ขาดเป้าหมาย แต่ขาดระบบที่ทำให้กลับมาทำต่อในวันที่ motivation หาย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104557-B825-4992-9076-CE658D965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3105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8EB"/>
          </a:solidFill>
          <a:ln xmlns:a="http://schemas.openxmlformats.org/drawingml/2006/main" w="9525">
            <a:solidFill>
              <a:srgbClr val="E8DCC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0E9482-8977-435B-89A0-4D423E60F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429000"/>
            <a:ext cx="3105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DF7EF"/>
          </a:solidFill>
          <a:ln xmlns:a="http://schemas.openxmlformats.org/drawingml/2006/main" w="9525">
            <a:solidFill>
              <a:srgbClr val="CDDF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51CA3A-3AD7-4326-8280-351063A79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29000"/>
            <a:ext cx="3105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1E9"/>
          </a:solidFill>
          <a:ln xmlns:a="http://schemas.openxmlformats.org/drawingml/2006/main" w="9525">
            <a:solidFill>
              <a:srgbClr val="EFB39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D3EC0C-E3C7-4469-ABE6-4F72B98A1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528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544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45445"/>
                </a:solidFill>
                <a:latin typeface="Aptos"/>
                <a:ea typeface="Aptos"/>
                <a:cs typeface="Aptos"/>
              </a:rPr>
              <a:t>เริ่มง่าย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814145-5C90-49AE-BB79-33FA91C64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7195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706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0706A"/>
                </a:solidFill>
                <a:latin typeface="Aptos"/>
                <a:ea typeface="Aptos"/>
                <a:cs typeface="Aptos"/>
              </a:rPr>
              <a:t>แต่รักษาความต่อเนื่องยาก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EA8AFA-891B-4FC3-B1EB-F51FD27C5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7528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544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45445"/>
                </a:solidFill>
                <a:latin typeface="Aptos"/>
                <a:ea typeface="Aptos"/>
                <a:cs typeface="Aptos"/>
              </a:rPr>
              <a:t>ทำคนเดียว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13A476-D444-48F3-B7AE-8061E673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17195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706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0706A"/>
                </a:solidFill>
                <a:latin typeface="Aptos"/>
                <a:ea typeface="Aptos"/>
                <a:cs typeface="Aptos"/>
              </a:rPr>
              <a:t>ไม่มีใครเห็นความคืบหน้า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072B65-1077-4A84-B9A6-56FF47734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7528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544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45445"/>
                </a:solidFill>
                <a:latin typeface="Aptos"/>
                <a:ea typeface="Aptos"/>
                <a:cs typeface="Aptos"/>
              </a:rPr>
              <a:t>กลับมาพรุ่งนี้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01913C-D734-42DF-B72F-61F717EEC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17195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706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0706A"/>
                </a:solidFill>
                <a:latin typeface="Aptos"/>
                <a:ea typeface="Aptos"/>
                <a:cs typeface="Aptos"/>
              </a:rPr>
              <a:t>ต้องมีแรงจากกลุ่มช่วยพยุง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D44F44-357F-4AA2-8471-02C66166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0706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0706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C5CCC5-271C-4860-898A-2797DF055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1531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0706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0706A"/>
                </a:solidFill>
                <a:latin typeface="Aptos"/>
                <a:ea typeface="Aptos"/>
                <a:cs typeface="Aptos"/>
              </a:rPr>
              <a:t>Tabbit</a:t>
            </a:r>
          </a:p>
        </p:txBody>
      </p:sp>
    </p:spTree>
    <p:extLst>
      <p:ext uri="{BB962C8B-B14F-4D97-AF65-F5344CB8AC3E}">
        <p14:creationId xmlns:p14="http://schemas.microsoft.com/office/powerpoint/2010/main" val="1737332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2454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509A60-A327-46E9-B32D-837DCCC9C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23850"/>
            <a:ext cx="93345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aa6fe9c1d9448d"/>
          <a:stretch xmlns:a="http://schemas.openxmlformats.org/drawingml/2006/main"/>
        </p:blipFill>
        <p:spPr>
          <a:xfrm xmlns:a="http://schemas.openxmlformats.org/drawingml/2006/main">
            <a:off x="10382250" y="4000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ECD54A-BF6F-4888-9D52-FC6EB65E0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419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Pain Point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C4CBD7-8908-41B3-9895-4D1284629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723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DDFC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CDDFCF"/>
                </a:solidFill>
                <a:latin typeface="Aptos"/>
                <a:ea typeface="Aptos"/>
                <a:cs typeface="Aptos"/>
              </a:rPr>
              <a:t>Habit tracker ส่วนใหญ่ช่วย “บันทึก” แต่ไม่ได้สร้างแรงรับผิดชอบจากคนรอบตัว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1141F1-0762-4AEB-A528-C315643B0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0"/>
            <a:ext cx="45720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8FB49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69B5B7-3044-4687-B96A-3AFD7EA13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242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Solo motivation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F7B13A-DB36-4518-A9F9-4DDD2CC2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480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DDFC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CDDFCF"/>
                </a:solidFill>
                <a:latin typeface="Aptos"/>
                <a:ea typeface="Aptos"/>
                <a:cs typeface="Aptos"/>
              </a:rPr>
              <a:t>ต้องพึ่งใจตัวเองทุกวัน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B1027D-AF31-4C95-846B-4A852E39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952750"/>
            <a:ext cx="45720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8FB49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F87476-646C-4B01-94B1-1C71A882E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242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Hidden progress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224482-9DD6-41D5-A26C-C7C454247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480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DDFC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CDDFCF"/>
                </a:solidFill>
                <a:latin typeface="Aptos"/>
                <a:ea typeface="Aptos"/>
                <a:cs typeface="Aptos"/>
              </a:rPr>
              <a:t>ไม่มี social context ให้กลับมา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8253AB-8ABF-43E4-8ACA-2D4CBD3A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91000"/>
            <a:ext cx="45720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8FB49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847231-A960-4CB9-9547-021B389C9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624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Chat is messy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4F699E-D15E-40CF-B260-0FD602086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863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DDFC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CDDFCF"/>
                </a:solidFill>
                <a:latin typeface="Aptos"/>
                <a:ea typeface="Aptos"/>
                <a:cs typeface="Aptos"/>
              </a:rPr>
              <a:t>LINE/Sheets ตาม progress ยาก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A3D112-51BF-43E3-BD74-EA1557A5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191000"/>
            <a:ext cx="45720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8FB49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967A08-FFED-41EE-8A02-BC6BFA8F3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624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Streak shame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AB399F-5C7F-41FE-92E6-01DAB366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6863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DDFC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CDDFCF"/>
                </a:solidFill>
                <a:latin typeface="Aptos"/>
                <a:ea typeface="Aptos"/>
                <a:cs typeface="Aptos"/>
              </a:rPr>
              <a:t>พลาดแล้วรู้สึกล้มเหลวและเลิกใช้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4FE11A-3E2C-400B-9BBA-9DB47959C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DDFC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DDFC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D4E76B-7670-4006-896A-35B11CA8E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1531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CDDFC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DDFCF"/>
                </a:solidFill>
                <a:latin typeface="Aptos"/>
                <a:ea typeface="Aptos"/>
                <a:cs typeface="Aptos"/>
              </a:rPr>
              <a:t>Tabbit</a:t>
            </a:r>
          </a:p>
        </p:txBody>
      </p:sp>
    </p:spTree>
    <p:extLst>
      <p:ext uri="{BB962C8B-B14F-4D97-AF65-F5344CB8AC3E}">
        <p14:creationId xmlns:p14="http://schemas.microsoft.com/office/powerpoint/2010/main" val="7616927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8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c086dd9a0f44a7"/>
          <a:stretch xmlns:a="http://schemas.openxmlformats.org/drawingml/2006/main"/>
        </p:blipFill>
        <p:spPr>
          <a:xfrm xmlns:a="http://schemas.openxmlformats.org/drawingml/2006/main">
            <a:off x="10382250" y="4000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C426A9-FC3C-4001-9137-D02D76C66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5445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45445"/>
                </a:solidFill>
                <a:latin typeface="Aptos Display"/>
                <a:ea typeface="Aptos Display"/>
                <a:cs typeface="Aptos Display"/>
              </a:rPr>
              <a:t>Solution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F9EF47-75F6-42B6-B65E-995B5B115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90650"/>
            <a:ext cx="7810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31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8231F"/>
                </a:solidFill>
                <a:latin typeface="Aptos"/>
                <a:ea typeface="Aptos"/>
                <a:cs typeface="Aptos"/>
              </a:rPr>
              <a:t>เปลี่ยน check-in จากงานส่วนตัว ให้เป็น commitment เล็ก ๆ ที่กลุ่มรับรู้และช่วยกันรักษา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FDCCB5-FA52-494B-BA23-2C744A81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14287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C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91CA44-1C34-4902-935A-FC284C034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D7D5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D7D5A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453647-2238-4994-9B83-8A7B42A70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86200"/>
            <a:ext cx="1066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54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45445"/>
                </a:solidFill>
                <a:latin typeface="Aptos"/>
                <a:ea typeface="Aptos"/>
                <a:cs typeface="Aptos"/>
              </a:rPr>
              <a:t>Create group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128382-9793-48F3-967E-735A30EE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7052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D7D5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ED7D5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231E69-FBC1-4F8A-97F8-C44C414B9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295650"/>
            <a:ext cx="14287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DF7EF"/>
          </a:solidFill>
          <a:ln xmlns:a="http://schemas.openxmlformats.org/drawingml/2006/main" w="9525">
            <a:solidFill>
              <a:srgbClr val="E8DC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FA8D4B-B372-4554-A078-3BFF026FB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4861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D7D5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D7D5A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A9A915-DCDF-4AAC-8118-AB5A6B51B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86200"/>
            <a:ext cx="1066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54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45445"/>
                </a:solidFill>
                <a:latin typeface="Aptos"/>
                <a:ea typeface="Aptos"/>
                <a:cs typeface="Aptos"/>
              </a:rPr>
              <a:t>Set shared habit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F7C162-DDA6-42DD-835D-8375921B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7052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D7D5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ED7D5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F0AB6D-E70B-4ADB-A6D1-29E4E9DB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95650"/>
            <a:ext cx="14287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C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3CC630-99B2-40BC-8B51-A43FE53E4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4861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D7D5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D7D5A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5C52BA-E89F-48CF-9C05-27E45D29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886200"/>
            <a:ext cx="1066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54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45445"/>
                </a:solidFill>
                <a:latin typeface="Aptos"/>
                <a:ea typeface="Aptos"/>
                <a:cs typeface="Aptos"/>
              </a:rPr>
              <a:t>Daily check-in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0F7CBB-469C-4CD6-91DB-5AF081053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7052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D7D5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ED7D5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0DA983-54F5-44A0-B629-24045323A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95650"/>
            <a:ext cx="14287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DF7EF"/>
          </a:solidFill>
          <a:ln xmlns:a="http://schemas.openxmlformats.org/drawingml/2006/main" w="9525">
            <a:solidFill>
              <a:srgbClr val="E8DC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049F6F-5001-4C31-A257-7A5A00748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861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D7D5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D7D5A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1FA7D7-A78A-425C-82CB-EE39D8BA6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86200"/>
            <a:ext cx="1066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54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45445"/>
                </a:solidFill>
                <a:latin typeface="Aptos"/>
                <a:ea typeface="Aptos"/>
                <a:cs typeface="Aptos"/>
              </a:rPr>
              <a:t>See progress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C2FD5E-E71A-462C-A360-04CE524AF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7052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D7D5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ED7D5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43E742-15FE-4429-8EC3-817554DD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95650"/>
            <a:ext cx="14287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C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D535D0-7C8B-4623-98AA-C15012326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861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D7D5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D7D5A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B91E0C-05AA-4C22-A9EB-E0DF9A98E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886200"/>
            <a:ext cx="1066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54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45445"/>
                </a:solidFill>
                <a:latin typeface="Aptos"/>
                <a:ea typeface="Aptos"/>
                <a:cs typeface="Aptos"/>
              </a:rPr>
              <a:t>Encourage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9D4DF0-5378-4EDD-B6B7-239369B21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7052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D7D5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ED7D5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1D545B-987C-4434-AEA0-EBC33CF0B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295650"/>
            <a:ext cx="14287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DF7EF"/>
          </a:solidFill>
          <a:ln xmlns:a="http://schemas.openxmlformats.org/drawingml/2006/main" w="9525">
            <a:solidFill>
              <a:srgbClr val="E8DC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77E2E4-50FC-40B6-93FD-2EBA8E409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4861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D7D5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D7D5A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5131C5-2BCA-4379-B7CA-881BF25D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886200"/>
            <a:ext cx="1066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54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45445"/>
                </a:solidFill>
                <a:latin typeface="Aptos"/>
                <a:ea typeface="Aptos"/>
                <a:cs typeface="Aptos"/>
              </a:rPr>
              <a:t>Return tomorrow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891D15-B278-4232-912F-43303EB80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8160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454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45445"/>
                </a:solidFill>
                <a:latin typeface="Aptos"/>
                <a:ea typeface="Aptos"/>
                <a:cs typeface="Aptos"/>
              </a:rPr>
              <a:t>Core loop: กลุ่มเล็ก เห็นกันชัด ให้กำลังใจกันง่าย และกลับมาทำต่อวันถัดไป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E8EF01-581A-46C7-ABE9-96445F43B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0706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0706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B05323-F64A-4CDF-A3C5-0A6B3A254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1531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0706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0706A"/>
                </a:solidFill>
                <a:latin typeface="Aptos"/>
                <a:ea typeface="Aptos"/>
                <a:cs typeface="Aptos"/>
              </a:rPr>
              <a:t>Tabbit</a:t>
            </a:r>
          </a:p>
        </p:txBody>
      </p:sp>
    </p:spTree>
    <p:extLst>
      <p:ext uri="{BB962C8B-B14F-4D97-AF65-F5344CB8AC3E}">
        <p14:creationId xmlns:p14="http://schemas.microsoft.com/office/powerpoint/2010/main" val="19644863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aa2a9954d94195"/>
          <a:stretch xmlns:a="http://schemas.openxmlformats.org/drawingml/2006/main"/>
        </p:blipFill>
        <p:spPr>
          <a:xfrm xmlns:a="http://schemas.openxmlformats.org/drawingml/2006/main">
            <a:off x="10382250" y="4000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7F1AD9-C4DC-458B-BFB6-ED17919EC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5445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45445"/>
                </a:solidFill>
                <a:latin typeface="Aptos Display"/>
                <a:ea typeface="Aptos Display"/>
                <a:cs typeface="Aptos Display"/>
              </a:rPr>
              <a:t>Highlight Features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7CEF2D-6141-4560-999D-96C92AB2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3350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0706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0706A"/>
                </a:solidFill>
                <a:latin typeface="Aptos"/>
                <a:ea typeface="Aptos"/>
                <a:cs typeface="Aptos"/>
              </a:rPr>
              <a:t>ทุก feature ต้องช่วย retention, accountability หรือ group momentum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2A73E0-7C94-4B42-AA25-700DBB9A1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28850"/>
            <a:ext cx="31432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8EB"/>
          </a:solidFill>
          <a:ln xmlns:a="http://schemas.openxmlformats.org/drawingml/2006/main" w="9525">
            <a:solidFill>
              <a:srgbClr val="E8DCC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3656D4-F11C-4AD4-9E7C-C1680089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57450"/>
            <a:ext cx="259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54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45445"/>
                </a:solidFill>
                <a:latin typeface="Aptos"/>
                <a:ea typeface="Aptos"/>
                <a:cs typeface="Aptos"/>
              </a:rPr>
              <a:t>Fast check-in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090174-B0C5-43E7-8E01-7732B77E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57500"/>
            <a:ext cx="262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6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06A"/>
                </a:solidFill>
                <a:latin typeface="Aptos"/>
                <a:ea typeface="Aptos"/>
                <a:cs typeface="Aptos"/>
              </a:rPr>
              <a:t>กดเสร็จในไม่กี่วินาที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9FC2E1-2B82-465C-8BEC-4735A052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28850"/>
            <a:ext cx="31432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EDF7EF"/>
          </a:solidFill>
          <a:ln xmlns:a="http://schemas.openxmlformats.org/drawingml/2006/main" w="9525">
            <a:solidFill>
              <a:srgbClr val="E8DCC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4F6FF6-EDBC-4E6C-A36B-6F84B329C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57450"/>
            <a:ext cx="259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54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45445"/>
                </a:solidFill>
                <a:latin typeface="Aptos"/>
                <a:ea typeface="Aptos"/>
                <a:cs typeface="Aptos"/>
              </a:rPr>
              <a:t>Group progress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441CF3-9C96-4BE7-9ED2-0FEA5CDA4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57500"/>
            <a:ext cx="262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6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06A"/>
                </a:solidFill>
                <a:latin typeface="Aptos"/>
                <a:ea typeface="Aptos"/>
                <a:cs typeface="Aptos"/>
              </a:rPr>
              <a:t>เห็นสถานะวันนี้ของทุกคน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6331F1-7945-4490-956E-E50356032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28850"/>
            <a:ext cx="31432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8EB"/>
          </a:solidFill>
          <a:ln xmlns:a="http://schemas.openxmlformats.org/drawingml/2006/main" w="9525">
            <a:solidFill>
              <a:srgbClr val="E8DCC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E1FE29-E2A5-4FDF-86F3-02F3F6906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57450"/>
            <a:ext cx="259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54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45445"/>
                </a:solidFill>
                <a:latin typeface="Aptos"/>
                <a:ea typeface="Aptos"/>
                <a:cs typeface="Aptos"/>
              </a:rPr>
              <a:t>Encouragement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FDDD0D-BBED-4703-A476-778E4D340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57500"/>
            <a:ext cx="262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6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06A"/>
                </a:solidFill>
                <a:latin typeface="Aptos"/>
                <a:ea typeface="Aptos"/>
                <a:cs typeface="Aptos"/>
              </a:rPr>
              <a:t>reaction/ข้อความสั้นแบบ supportive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3CE068-52FF-47F1-876B-47CBDC5EC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67150"/>
            <a:ext cx="31432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EDF7EF"/>
          </a:solidFill>
          <a:ln xmlns:a="http://schemas.openxmlformats.org/drawingml/2006/main" w="9525">
            <a:solidFill>
              <a:srgbClr val="E8DCC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039102-C407-44CE-84C4-70F6F70DE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95750"/>
            <a:ext cx="259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54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45445"/>
                </a:solidFill>
                <a:latin typeface="Aptos"/>
                <a:ea typeface="Aptos"/>
                <a:cs typeface="Aptos"/>
              </a:rPr>
              <a:t>Gentle streak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F72021-2B7F-4102-89BB-37F51F2C5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95800"/>
            <a:ext cx="262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6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06A"/>
                </a:solidFill>
                <a:latin typeface="Aptos"/>
                <a:ea typeface="Aptos"/>
                <a:cs typeface="Aptos"/>
              </a:rPr>
              <a:t>ฉลอง consistency ไม่ลงโทษความพลาด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ADB695-E509-4667-90FA-2A0257155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867150"/>
            <a:ext cx="31432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8EB"/>
          </a:solidFill>
          <a:ln xmlns:a="http://schemas.openxmlformats.org/drawingml/2006/main" w="9525">
            <a:solidFill>
              <a:srgbClr val="E8DCC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437665-7079-4161-A4E5-6D239DE9F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95750"/>
            <a:ext cx="259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54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45445"/>
                </a:solidFill>
                <a:latin typeface="Aptos"/>
                <a:ea typeface="Aptos"/>
                <a:cs typeface="Aptos"/>
              </a:rPr>
              <a:t>Small group free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E0BE4C-EC76-46A0-A648-CD2500BBC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95800"/>
            <a:ext cx="262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6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06A"/>
                </a:solidFill>
                <a:latin typeface="Aptos"/>
                <a:ea typeface="Aptos"/>
                <a:cs typeface="Aptos"/>
              </a:rPr>
              <a:t>ใช้ฟรีสำหรับกลุ่มไม่เกิน 5 คน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6D4BE8-E2DC-4075-819A-B6425A60E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67150"/>
            <a:ext cx="31432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EDF7EF"/>
          </a:solidFill>
          <a:ln xmlns:a="http://schemas.openxmlformats.org/drawingml/2006/main" w="9525">
            <a:solidFill>
              <a:srgbClr val="E8DCC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8F62AB-A565-4290-A322-EAA9BDB3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95750"/>
            <a:ext cx="259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54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45445"/>
                </a:solidFill>
                <a:latin typeface="Aptos"/>
                <a:ea typeface="Aptos"/>
                <a:cs typeface="Aptos"/>
              </a:rPr>
              <a:t>Organizer tools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8B26B6-9BEA-42EF-A2BF-A721B560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495800"/>
            <a:ext cx="262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6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06A"/>
                </a:solidFill>
                <a:latin typeface="Aptos"/>
                <a:ea typeface="Aptos"/>
                <a:cs typeface="Aptos"/>
              </a:rPr>
              <a:t>dashboard, reminder, summary สำหรับกลุ่มใหญ่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C57A14-9FDF-4FB2-81A2-57650344F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0706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0706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CB947A-56AE-4BA4-9B5D-BB8FF326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1531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0706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0706A"/>
                </a:solidFill>
                <a:latin typeface="Aptos"/>
                <a:ea typeface="Aptos"/>
                <a:cs typeface="Aptos"/>
              </a:rPr>
              <a:t>Tabbit</a:t>
            </a:r>
          </a:p>
        </p:txBody>
      </p:sp>
    </p:spTree>
    <p:extLst>
      <p:ext uri="{BB962C8B-B14F-4D97-AF65-F5344CB8AC3E}">
        <p14:creationId xmlns:p14="http://schemas.microsoft.com/office/powerpoint/2010/main" val="3134585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D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b89ade34554ff3"/>
          <a:stretch xmlns:a="http://schemas.openxmlformats.org/drawingml/2006/main"/>
        </p:blipFill>
        <p:spPr>
          <a:xfrm xmlns:a="http://schemas.openxmlformats.org/drawingml/2006/main">
            <a:off x="10382250" y="4000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BC5238-1F9D-468F-BDED-0A01C906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38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5445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45445"/>
                </a:solidFill>
                <a:latin typeface="Aptos Display"/>
                <a:ea typeface="Aptos Display"/>
                <a:cs typeface="Aptos Display"/>
              </a:rPr>
              <a:t>MVP Product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A93597-5FFB-4997-A5F4-0817094C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231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31F"/>
                </a:solidFill>
                <a:latin typeface="Aptos"/>
                <a:ea typeface="Aptos"/>
                <a:cs typeface="Aptos"/>
              </a:rPr>
              <a:t>เริ่มจาก use case แคบ: 21-Day Reading Challenge เพื่อพิสูจน์พฤติกรรมก่อนขยาย habit type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025A61-C0CB-43E6-B9AA-4F96BE85B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4857750" cy="22098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FC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025ECE-5F08-4517-AF85-3DA6569D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908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544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45445"/>
                </a:solidFill>
                <a:latin typeface="Aptos"/>
                <a:ea typeface="Aptos"/>
                <a:cs typeface="Aptos"/>
              </a:rPr>
              <a:t>MVP scope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8F27AA-9303-426A-9A9A-A86B90BD3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90925"/>
            <a:ext cx="95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D7D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1A9EEE-1B17-4554-A487-FC9E6EF21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242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1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231F"/>
                </a:solidFill>
                <a:latin typeface="Aptos"/>
                <a:ea typeface="Aptos"/>
                <a:cs typeface="Aptos"/>
              </a:rPr>
              <a:t>1 shared habit per group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98513C-F520-4842-8078-20101838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29075"/>
            <a:ext cx="95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D7D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E0FDFC-3016-41BF-B23B-F12799598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624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1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231F"/>
                </a:solidFill>
                <a:latin typeface="Aptos"/>
                <a:ea typeface="Aptos"/>
                <a:cs typeface="Aptos"/>
              </a:rPr>
              <a:t>Daily check-in + group progress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FBFC40-3BA4-49B3-97CD-83029932C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67225"/>
            <a:ext cx="95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D7D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F29918-B1FB-48B9-9275-AD7DEDDE6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005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1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231F"/>
                </a:solidFill>
                <a:latin typeface="Aptos"/>
                <a:ea typeface="Aptos"/>
                <a:cs typeface="Aptos"/>
              </a:rPr>
              <a:t>Simple encouragement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47CC82-C551-4C95-97B9-4DAE78FD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86050"/>
            <a:ext cx="4095750" cy="22098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245445"/>
          </a:solidFill>
          <a:ln xmlns:a="http://schemas.openxmlformats.org/drawingml/2006/main" w="9525">
            <a:solidFill>
              <a:srgbClr val="24544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BD859C-C0AE-4F58-B988-526184A47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908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Validation metrics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60A49E-85D5-4101-B650-43EE791BC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50520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DDFC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CDDFCF"/>
                </a:solidFill>
                <a:latin typeface="Aptos"/>
                <a:ea typeface="Aptos"/>
                <a:cs typeface="Aptos"/>
              </a:rPr>
              <a:t>Day-7 retention</a:t>
            </a:r>
          </a:p>
          <a:p xmlns:a="http://schemas.openxmlformats.org/drawingml/2006/main">
            <a:pPr algn="l">
              <a:defRPr sz="1650" b="0">
                <a:solidFill>
                  <a:srgbClr val="CDDFC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CDDFCF"/>
                </a:solidFill>
                <a:latin typeface="Aptos"/>
                <a:ea typeface="Aptos"/>
                <a:cs typeface="Aptos"/>
              </a:rPr>
              <a:t>Daily check-in rate</a:t>
            </a:r>
          </a:p>
          <a:p xmlns:a="http://schemas.openxmlformats.org/drawingml/2006/main">
            <a:pPr algn="l">
              <a:defRPr sz="1650" b="0">
                <a:solidFill>
                  <a:srgbClr val="CDDFC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CDDFCF"/>
                </a:solidFill>
                <a:latin typeface="Aptos"/>
                <a:ea typeface="Aptos"/>
                <a:cs typeface="Aptos"/>
              </a:rPr>
              <a:t>Encouragement per group</a:t>
            </a:r>
          </a:p>
          <a:p xmlns:a="http://schemas.openxmlformats.org/drawingml/2006/main">
            <a:pPr algn="l">
              <a:defRPr sz="1650" b="0">
                <a:solidFill>
                  <a:srgbClr val="CDDFC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CDDFCF"/>
                </a:solidFill>
                <a:latin typeface="Aptos"/>
                <a:ea typeface="Aptos"/>
                <a:cs typeface="Aptos"/>
              </a:rPr>
              <a:t>Second challenge intent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6949FF-8F24-4677-95A0-A7A10EFDC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0706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0706A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B5663B-0458-46C9-A2FF-02EB8FFB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1531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0706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0706A"/>
                </a:solidFill>
                <a:latin typeface="Aptos"/>
                <a:ea typeface="Aptos"/>
                <a:cs typeface="Aptos"/>
              </a:rPr>
              <a:t>Tabbit</a:t>
            </a:r>
          </a:p>
        </p:txBody>
      </p:sp>
    </p:spTree>
    <p:extLst>
      <p:ext uri="{BB962C8B-B14F-4D97-AF65-F5344CB8AC3E}">
        <p14:creationId xmlns:p14="http://schemas.microsoft.com/office/powerpoint/2010/main" val="2394160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8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32d5b0e75b42e0"/>
          <a:stretch xmlns:a="http://schemas.openxmlformats.org/drawingml/2006/main"/>
        </p:blipFill>
        <p:spPr>
          <a:xfrm xmlns:a="http://schemas.openxmlformats.org/drawingml/2006/main">
            <a:off x="10382250" y="4000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374AFF-A62C-4F3B-8FCA-601B9D053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5445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45445"/>
                </a:solidFill>
                <a:latin typeface="Aptos Display"/>
                <a:ea typeface="Aptos Display"/>
                <a:cs typeface="Aptos Display"/>
              </a:rPr>
              <a:t>Why Tabbit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69E0EE-4AD1-4240-BA78-1CD0ECF79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90650"/>
            <a:ext cx="857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31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8231F"/>
                </a:solidFill>
                <a:latin typeface="Aptos"/>
                <a:ea typeface="Aptos"/>
                <a:cs typeface="Aptos"/>
              </a:rPr>
              <a:t>เพราะปัญหาไม่ใช่การไม่มี tracker แต่คือการไม่มีแรงรับผิดชอบที่รู้สึกเป็นธรรมชาติ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A1DD3C-B096-4964-80E3-C593617E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95600"/>
            <a:ext cx="295275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CC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1A97DC-4CF5-4B0B-A2CD-0BE3A8B2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95600"/>
            <a:ext cx="295275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CC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7BDB87-0E1C-4AAB-BDD0-83591EA2E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95600"/>
            <a:ext cx="295275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CC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D66E60-8BF1-4223-ACCB-A36C617E8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385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54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45445"/>
                </a:solidFill>
                <a:latin typeface="Aptos"/>
                <a:ea typeface="Aptos"/>
                <a:cs typeface="Aptos"/>
              </a:rPr>
              <a:t>LINE-first behavior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486EA7-DCCE-40D9-A915-6E991D859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95700"/>
            <a:ext cx="2266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706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0706A"/>
                </a:solidFill>
                <a:latin typeface="Aptos"/>
                <a:ea typeface="Aptos"/>
                <a:cs typeface="Aptos"/>
              </a:rPr>
              <a:t>เข้าใจบริบทกลุ่มไทยและการชวนเพื่อนผ่านแชท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8D9BBA-7B8A-474F-87D0-3523C359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385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54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45445"/>
                </a:solidFill>
                <a:latin typeface="Aptos"/>
                <a:ea typeface="Aptos"/>
                <a:cs typeface="Aptos"/>
              </a:rPr>
              <a:t>Accountability first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323051-1277-43B4-B47F-36809651C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695700"/>
            <a:ext cx="2266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706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0706A"/>
                </a:solidFill>
                <a:latin typeface="Aptos"/>
                <a:ea typeface="Aptos"/>
                <a:cs typeface="Aptos"/>
              </a:rPr>
              <a:t>ไม่ได้เป็น habit tracker เดี่ยวที่ค่อยใส่ social feature ทีหลัง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70CBA4-F6BC-4E03-A116-4D32BEC31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385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54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45445"/>
                </a:solidFill>
                <a:latin typeface="Aptos"/>
                <a:ea typeface="Aptos"/>
                <a:cs typeface="Aptos"/>
              </a:rPr>
              <a:t>Supportive, not shame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93344A-1667-488E-980C-023FF2162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695700"/>
            <a:ext cx="2266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6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06A"/>
                </a:solidFill>
                <a:latin typeface="Aptos"/>
                <a:ea typeface="Aptos"/>
                <a:cs typeface="Aptos"/>
              </a:rPr>
              <a:t>เน้นกำลังใจและ consistency</a:t>
            </a:r>
          </a:p>
          <a:p xmlns:a="http://schemas.openxmlformats.org/drawingml/2006/main">
            <a:pPr algn="l">
              <a:defRPr sz="1350" b="0">
                <a:solidFill>
                  <a:srgbClr val="60706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06A"/>
                </a:solidFill>
                <a:latin typeface="Aptos"/>
                <a:ea typeface="Aptos"/>
                <a:cs typeface="Aptos"/>
              </a:rPr>
              <a:t>มากกว่าการจัดอันดับให้แพ้ชนะ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318BA1-A6D0-4D6A-9A62-29FDF6EEE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0706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0706A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C98B01-ADA5-431F-AF46-1E87E55F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1531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0706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0706A"/>
                </a:solidFill>
                <a:latin typeface="Aptos"/>
                <a:ea typeface="Aptos"/>
                <a:cs typeface="Aptos"/>
              </a:rPr>
              <a:t>Tabbit</a:t>
            </a:r>
          </a:p>
        </p:txBody>
      </p:sp>
    </p:spTree>
    <p:extLst>
      <p:ext uri="{BB962C8B-B14F-4D97-AF65-F5344CB8AC3E}">
        <p14:creationId xmlns:p14="http://schemas.microsoft.com/office/powerpoint/2010/main" val="4047027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2454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FD4A1E-D29D-4B68-9818-5B60F3E6D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23850"/>
            <a:ext cx="93345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091fbdfa3544c4"/>
          <a:stretch xmlns:a="http://schemas.openxmlformats.org/drawingml/2006/main"/>
        </p:blipFill>
        <p:spPr>
          <a:xfrm xmlns:a="http://schemas.openxmlformats.org/drawingml/2006/main">
            <a:off x="10382250" y="4000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AED925-D6CB-4FC7-B3A8-F6D27E7BF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Revenue Stream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048140-1388-4DE9-BE16-DF19BF088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DDFC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CDDFCF"/>
                </a:solidFill>
                <a:latin typeface="Aptos"/>
                <a:ea typeface="Aptos"/>
                <a:cs typeface="Aptos"/>
              </a:rPr>
              <a:t>Members join free. Organizers pay when coordination becomes valuable.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FF165D-ADB9-4DBA-B9A7-CDF7A4501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304800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FC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35612-7D31-4E73-AA69-CCA2082D2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670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5445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45445"/>
                </a:solidFill>
                <a:latin typeface="Aptos"/>
                <a:ea typeface="Aptos"/>
                <a:cs typeface="Aptos"/>
              </a:rPr>
              <a:t>Free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D7FC03-FFD1-4BB0-8AAD-8ACB168CD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38550"/>
            <a:ext cx="2266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31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31F"/>
                </a:solidFill>
                <a:latin typeface="Aptos"/>
                <a:ea typeface="Aptos"/>
                <a:cs typeface="Aptos"/>
              </a:rPr>
              <a:t>1 active group</a:t>
            </a:r>
          </a:p>
          <a:p xmlns:a="http://schemas.openxmlformats.org/drawingml/2006/main">
            <a:pPr algn="l">
              <a:defRPr sz="1575" b="0">
                <a:solidFill>
                  <a:srgbClr val="18231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31F"/>
                </a:solidFill>
                <a:latin typeface="Aptos"/>
                <a:ea typeface="Aptos"/>
                <a:cs typeface="Aptos"/>
              </a:rPr>
              <a:t>max 5 people</a:t>
            </a:r>
          </a:p>
          <a:p xmlns:a="http://schemas.openxmlformats.org/drawingml/2006/main">
            <a:pPr algn="l">
              <a:defRPr sz="1575" b="0">
                <a:solidFill>
                  <a:srgbClr val="18231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31F"/>
                </a:solidFill>
                <a:latin typeface="Aptos"/>
                <a:ea typeface="Aptos"/>
                <a:cs typeface="Aptos"/>
              </a:rPr>
              <a:t>1 active challenge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115BB5-2961-430D-9A39-3EC98198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29150"/>
            <a:ext cx="15240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ED7D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F28A15-7FD3-48CF-997A-9DDC42AC1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05350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Adoption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618534-CA13-435F-BA9C-E0B6688AA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24150"/>
            <a:ext cx="304800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FC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DB4A17-8F1F-4393-9F3F-9812BB869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0670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5445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45445"/>
                </a:solidFill>
                <a:latin typeface="Aptos"/>
                <a:ea typeface="Aptos"/>
                <a:cs typeface="Aptos"/>
              </a:rPr>
              <a:t>Plus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6E8AAA-8768-4431-B52D-A39F3163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638550"/>
            <a:ext cx="2266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31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31F"/>
                </a:solidFill>
                <a:latin typeface="Aptos"/>
                <a:ea typeface="Aptos"/>
                <a:cs typeface="Aptos"/>
              </a:rPr>
              <a:t>multiple groups</a:t>
            </a:r>
          </a:p>
          <a:p xmlns:a="http://schemas.openxmlformats.org/drawingml/2006/main">
            <a:pPr algn="l">
              <a:defRPr sz="1575" b="0">
                <a:solidFill>
                  <a:srgbClr val="18231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31F"/>
                </a:solidFill>
                <a:latin typeface="Aptos"/>
                <a:ea typeface="Aptos"/>
                <a:cs typeface="Aptos"/>
              </a:rPr>
              <a:t>longer history</a:t>
            </a:r>
          </a:p>
          <a:p xmlns:a="http://schemas.openxmlformats.org/drawingml/2006/main">
            <a:pPr algn="l">
              <a:defRPr sz="1575" b="0">
                <a:solidFill>
                  <a:srgbClr val="18231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31F"/>
                </a:solidFill>
                <a:latin typeface="Aptos"/>
                <a:ea typeface="Aptos"/>
                <a:cs typeface="Aptos"/>
              </a:rPr>
              <a:t>better reminders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389238-6754-4A70-978B-BDAD378D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629150"/>
            <a:ext cx="15240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2454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F56E63-4574-491E-88F3-45BD3BBAA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705350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Power users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5C20AE-B24F-422D-912B-505D4550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24150"/>
            <a:ext cx="304800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FC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1C30BB-727E-444E-9F30-EAF49AFD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670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5445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45445"/>
                </a:solidFill>
                <a:latin typeface="Aptos"/>
                <a:ea typeface="Aptos"/>
                <a:cs typeface="Aptos"/>
              </a:rPr>
              <a:t>Organizer Pro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70B94D-ECEE-41A7-BC31-E90FDD30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638550"/>
            <a:ext cx="2266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31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31F"/>
                </a:solidFill>
                <a:latin typeface="Aptos"/>
                <a:ea typeface="Aptos"/>
                <a:cs typeface="Aptos"/>
              </a:rPr>
              <a:t>larger groups</a:t>
            </a:r>
          </a:p>
          <a:p xmlns:a="http://schemas.openxmlformats.org/drawingml/2006/main">
            <a:pPr algn="l">
              <a:defRPr sz="1575" b="0">
                <a:solidFill>
                  <a:srgbClr val="18231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31F"/>
                </a:solidFill>
                <a:latin typeface="Aptos"/>
                <a:ea typeface="Aptos"/>
                <a:cs typeface="Aptos"/>
              </a:rPr>
              <a:t>dashboard</a:t>
            </a:r>
          </a:p>
          <a:p xmlns:a="http://schemas.openxmlformats.org/drawingml/2006/main">
            <a:pPr algn="l">
              <a:defRPr sz="1575" b="0">
                <a:solidFill>
                  <a:srgbClr val="18231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31F"/>
                </a:solidFill>
                <a:latin typeface="Aptos"/>
                <a:ea typeface="Aptos"/>
                <a:cs typeface="Aptos"/>
              </a:rPr>
              <a:t>summary / export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BDA4A1-0717-4857-B98D-A9DB0BA6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629150"/>
            <a:ext cx="20002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2454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3DC757-7186-453F-8F05-6BFBB7A6A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70535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Hosts &amp; communities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C6BBCE-B80D-4ADD-9383-BB34857A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3880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Next ask: validate free small-group loop first, then test upgrade intent from organizers.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263DAF-0A65-414B-BFEA-A8633BB50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DDFC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DDFCF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22A99E-1518-417C-9D03-34A5885A3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1531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CDDFC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DDFCF"/>
                </a:solidFill>
                <a:latin typeface="Aptos"/>
                <a:ea typeface="Aptos"/>
                <a:cs typeface="Aptos"/>
              </a:rPr>
              <a:t>Tabbit</a:t>
            </a:r>
          </a:p>
        </p:txBody>
      </p:sp>
    </p:spTree>
    <p:extLst>
      <p:ext uri="{BB962C8B-B14F-4D97-AF65-F5344CB8AC3E}">
        <p14:creationId xmlns:p14="http://schemas.microsoft.com/office/powerpoint/2010/main" val="7136948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2026-06-25T19:28:10.1800000Z</dcterms:created>
  <dcterms:modified xsi:type="dcterms:W3CDTF">2026-06-25T19:28:10.1800000Z</dcterms:modified>
</coreProperties>
</file>